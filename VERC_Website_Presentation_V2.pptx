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87BDE-38E3-4406-A2F9-2839EF5306C9}" v="1" dt="2026-04-22T08:20:45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2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urobd.org/about-buro#our-awar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003366"/>
                </a:solidFill>
              </a:rPr>
              <a:t>VERC</a:t>
            </a:r>
            <a:r>
              <a:rPr sz="3400" b="1" dirty="0">
                <a:solidFill>
                  <a:srgbClr val="003366"/>
                </a:solidFill>
              </a:rPr>
              <a:t> Website</a:t>
            </a:r>
            <a:r>
              <a:rPr lang="en-US" sz="3400" b="1" dirty="0">
                <a:solidFill>
                  <a:srgbClr val="003366"/>
                </a:solidFill>
              </a:rPr>
              <a:t> Structure</a:t>
            </a:r>
            <a:endParaRPr sz="3400" b="1" dirty="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Purpose: Professional NGO/Microfinance website</a:t>
            </a:r>
          </a:p>
          <a:p>
            <a:r>
              <a:rPr sz="1800">
                <a:solidFill>
                  <a:srgbClr val="404040"/>
                </a:solidFill>
              </a:rPr>
              <a:t>Target: Donors, partners, beneficiaries</a:t>
            </a:r>
          </a:p>
          <a:p>
            <a:r>
              <a:rPr sz="1800">
                <a:solidFill>
                  <a:srgbClr val="404040"/>
                </a:solidFill>
              </a:rPr>
              <a:t>Focus: Transparency, Impact, Credibility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Home Page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Clear mission statement</a:t>
            </a:r>
          </a:p>
          <a:p>
            <a:r>
              <a:rPr sz="1800">
                <a:solidFill>
                  <a:srgbClr val="404040"/>
                </a:solidFill>
              </a:rPr>
              <a:t>Impact statistics</a:t>
            </a:r>
          </a:p>
          <a:p>
            <a:r>
              <a:rPr sz="1800">
                <a:solidFill>
                  <a:srgbClr val="404040"/>
                </a:solidFill>
              </a:rPr>
              <a:t>Programs highlight</a:t>
            </a:r>
          </a:p>
          <a:p>
            <a:r>
              <a:rPr sz="1800">
                <a:solidFill>
                  <a:srgbClr val="404040"/>
                </a:solidFill>
              </a:rPr>
              <a:t>Call to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About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Organizational credibility</a:t>
            </a:r>
          </a:p>
          <a:p>
            <a:r>
              <a:rPr sz="1800">
                <a:solidFill>
                  <a:srgbClr val="404040"/>
                </a:solidFill>
              </a:rPr>
              <a:t>Vision and mission</a:t>
            </a:r>
          </a:p>
          <a:p>
            <a:r>
              <a:rPr sz="1800">
                <a:solidFill>
                  <a:srgbClr val="404040"/>
                </a:solidFill>
              </a:rPr>
              <a:t>Leadership and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Programs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FF0000"/>
                </a:solidFill>
              </a:rPr>
              <a:t>Microfinance</a:t>
            </a:r>
          </a:p>
          <a:p>
            <a:r>
              <a:rPr sz="1800" dirty="0">
                <a:solidFill>
                  <a:srgbClr val="404040"/>
                </a:solidFill>
              </a:rPr>
              <a:t>Education</a:t>
            </a:r>
          </a:p>
          <a:p>
            <a:r>
              <a:rPr sz="1800" dirty="0">
                <a:solidFill>
                  <a:srgbClr val="404040"/>
                </a:solidFill>
              </a:rPr>
              <a:t>Livelihood</a:t>
            </a:r>
          </a:p>
          <a:p>
            <a:r>
              <a:rPr sz="1800" dirty="0">
                <a:solidFill>
                  <a:srgbClr val="404040"/>
                </a:solidFill>
              </a:rPr>
              <a:t>Women empowerment</a:t>
            </a:r>
            <a:endParaRPr lang="en-US" sz="1800" dirty="0">
              <a:solidFill>
                <a:srgbClr val="404040"/>
              </a:solidFill>
            </a:endParaRPr>
          </a:p>
          <a:p>
            <a:r>
              <a:rPr lang="en-US" sz="1800" dirty="0">
                <a:solidFill>
                  <a:srgbClr val="00B050"/>
                </a:solidFill>
              </a:rPr>
              <a:t>Capacity Building Program</a:t>
            </a:r>
          </a:p>
          <a:p>
            <a:r>
              <a:rPr lang="en-US" sz="1800" dirty="0">
                <a:solidFill>
                  <a:srgbClr val="00B050"/>
                </a:solidFill>
              </a:rPr>
              <a:t>Non Formal Education</a:t>
            </a:r>
          </a:p>
          <a:p>
            <a:r>
              <a:rPr lang="en-US" sz="1800" dirty="0">
                <a:solidFill>
                  <a:srgbClr val="00B050"/>
                </a:solidFill>
              </a:rPr>
              <a:t>Health Program</a:t>
            </a:r>
          </a:p>
          <a:p>
            <a:r>
              <a:rPr lang="en-US" sz="1800" dirty="0">
                <a:solidFill>
                  <a:srgbClr val="00B050"/>
                </a:solidFill>
              </a:rPr>
              <a:t>Water and Sanitation</a:t>
            </a:r>
          </a:p>
          <a:p>
            <a:endParaRPr lang="en-US" sz="1800" dirty="0">
              <a:solidFill>
                <a:srgbClr val="00B050"/>
              </a:solidFill>
            </a:endParaRPr>
          </a:p>
          <a:p>
            <a:endParaRPr lang="en-US" sz="1800" dirty="0">
              <a:solidFill>
                <a:srgbClr val="00B050"/>
              </a:solidFill>
            </a:endParaRPr>
          </a:p>
          <a:p>
            <a:endParaRPr lang="en-US" sz="1800" dirty="0">
              <a:solidFill>
                <a:srgbClr val="00B050"/>
              </a:solidFill>
            </a:endParaRPr>
          </a:p>
          <a:p>
            <a:endParaRPr sz="18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>
                <a:solidFill>
                  <a:srgbClr val="003366"/>
                </a:solidFill>
              </a:rPr>
              <a:t>Microfinance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404040"/>
                </a:solidFill>
              </a:rPr>
              <a:t>Loan products</a:t>
            </a:r>
          </a:p>
          <a:p>
            <a:r>
              <a:rPr sz="1800" dirty="0">
                <a:solidFill>
                  <a:srgbClr val="404040"/>
                </a:solidFill>
              </a:rPr>
              <a:t>Savings products</a:t>
            </a:r>
          </a:p>
          <a:p>
            <a:r>
              <a:rPr sz="1800" dirty="0">
                <a:solidFill>
                  <a:srgbClr val="404040"/>
                </a:solidFill>
              </a:rPr>
              <a:t>Client</a:t>
            </a:r>
            <a:r>
              <a:rPr lang="en-US" sz="1800" dirty="0">
                <a:solidFill>
                  <a:srgbClr val="404040"/>
                </a:solidFill>
              </a:rPr>
              <a:t>/Beneficiary</a:t>
            </a:r>
            <a:r>
              <a:rPr sz="1800" dirty="0">
                <a:solidFill>
                  <a:srgbClr val="404040"/>
                </a:solidFill>
              </a:rPr>
              <a:t> eligibility</a:t>
            </a:r>
          </a:p>
          <a:p>
            <a:r>
              <a:rPr sz="1800" dirty="0">
                <a:solidFill>
                  <a:srgbClr val="404040"/>
                </a:solidFill>
              </a:rPr>
              <a:t>Loan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Impact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Beneficiaries reached</a:t>
            </a:r>
          </a:p>
          <a:p>
            <a:r>
              <a:rPr sz="1800">
                <a:solidFill>
                  <a:srgbClr val="404040"/>
                </a:solidFill>
              </a:rPr>
              <a:t>Loan disbursement</a:t>
            </a:r>
          </a:p>
          <a:p>
            <a:r>
              <a:rPr sz="1800">
                <a:solidFill>
                  <a:srgbClr val="404040"/>
                </a:solidFill>
              </a:rPr>
              <a:t>Repayment rate</a:t>
            </a:r>
          </a:p>
          <a:p>
            <a:r>
              <a:rPr sz="1800">
                <a:solidFill>
                  <a:srgbClr val="404040"/>
                </a:solidFill>
              </a:rPr>
              <a:t>Geographic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>
                <a:solidFill>
                  <a:srgbClr val="003366"/>
                </a:solidFill>
              </a:rPr>
              <a:t>Transparency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404040"/>
                </a:solidFill>
              </a:rPr>
              <a:t>Annual reports</a:t>
            </a:r>
          </a:p>
          <a:p>
            <a:r>
              <a:rPr sz="1800" dirty="0">
                <a:solidFill>
                  <a:srgbClr val="404040"/>
                </a:solidFill>
              </a:rPr>
              <a:t>Audit reports</a:t>
            </a:r>
          </a:p>
          <a:p>
            <a:r>
              <a:rPr sz="1800" dirty="0">
                <a:solidFill>
                  <a:srgbClr val="404040"/>
                </a:solidFill>
              </a:rPr>
              <a:t>Impact reports</a:t>
            </a:r>
            <a:endParaRPr lang="en-US" sz="1800" dirty="0">
              <a:solidFill>
                <a:srgbClr val="404040"/>
              </a:solidFill>
            </a:endParaRPr>
          </a:p>
          <a:p>
            <a:r>
              <a:rPr lang="en-US" sz="1800" b="1" dirty="0">
                <a:solidFill>
                  <a:srgbClr val="00B050"/>
                </a:solidFill>
              </a:rPr>
              <a:t>Publication</a:t>
            </a:r>
            <a:endParaRPr sz="1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Partnership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Development partners</a:t>
            </a:r>
          </a:p>
          <a:p>
            <a:r>
              <a:rPr sz="1800">
                <a:solidFill>
                  <a:srgbClr val="404040"/>
                </a:solidFill>
              </a:rPr>
              <a:t>Government collaboration</a:t>
            </a:r>
          </a:p>
          <a:p>
            <a:r>
              <a:rPr sz="1800">
                <a:solidFill>
                  <a:srgbClr val="404040"/>
                </a:solidFill>
              </a:rPr>
              <a:t>International donors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404040"/>
                </a:solidFill>
              </a:rPr>
              <a:t>Board structure</a:t>
            </a:r>
          </a:p>
          <a:p>
            <a:r>
              <a:rPr sz="1800" dirty="0">
                <a:solidFill>
                  <a:srgbClr val="404040"/>
                </a:solidFill>
              </a:rPr>
              <a:t>Management team</a:t>
            </a:r>
          </a:p>
          <a:p>
            <a:r>
              <a:rPr sz="1800" dirty="0">
                <a:solidFill>
                  <a:srgbClr val="404040"/>
                </a:solidFill>
              </a:rPr>
              <a:t>Policies</a:t>
            </a:r>
            <a:endParaRPr lang="en-US" sz="1800" dirty="0">
              <a:solidFill>
                <a:srgbClr val="404040"/>
              </a:solidFill>
            </a:endParaRPr>
          </a:p>
          <a:p>
            <a:r>
              <a:rPr lang="en-US" sz="1800" dirty="0">
                <a:solidFill>
                  <a:srgbClr val="00B050"/>
                </a:solidFill>
              </a:rPr>
              <a:t>Legal status</a:t>
            </a:r>
            <a:endParaRPr sz="1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Contact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Contact information</a:t>
            </a:r>
          </a:p>
          <a:p>
            <a:r>
              <a:rPr sz="1800">
                <a:solidFill>
                  <a:srgbClr val="404040"/>
                </a:solidFill>
              </a:rPr>
              <a:t>Branch network</a:t>
            </a:r>
          </a:p>
          <a:p>
            <a:r>
              <a:rPr sz="1800">
                <a:solidFill>
                  <a:srgbClr val="404040"/>
                </a:solidFill>
              </a:rPr>
              <a:t>Online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3366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04040"/>
                </a:solidFill>
              </a:rPr>
              <a:t>Professional presence</a:t>
            </a:r>
          </a:p>
          <a:p>
            <a:r>
              <a:rPr sz="1800">
                <a:solidFill>
                  <a:srgbClr val="404040"/>
                </a:solidFill>
              </a:rPr>
              <a:t>Increased credibility</a:t>
            </a:r>
          </a:p>
          <a:p>
            <a:r>
              <a:rPr sz="1800">
                <a:solidFill>
                  <a:srgbClr val="404040"/>
                </a:solidFill>
              </a:rPr>
              <a:t>Stronger partnerships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Circular</a:t>
            </a:r>
            <a:endParaRPr sz="3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73674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Circular</a:t>
            </a:r>
          </a:p>
          <a:p>
            <a:r>
              <a:rPr lang="en-US" sz="1600" dirty="0">
                <a:solidFill>
                  <a:srgbClr val="00B050"/>
                </a:solidFill>
              </a:rPr>
              <a:t>Job Vacancy</a:t>
            </a:r>
          </a:p>
          <a:p>
            <a:r>
              <a:rPr lang="en-US" sz="1600" dirty="0">
                <a:solidFill>
                  <a:srgbClr val="00B050"/>
                </a:solidFill>
              </a:rPr>
              <a:t>Notice</a:t>
            </a:r>
          </a:p>
          <a:p>
            <a:r>
              <a:rPr lang="en-US" sz="1600" dirty="0">
                <a:solidFill>
                  <a:srgbClr val="00B050"/>
                </a:solidFill>
              </a:rPr>
              <a:t>Tender</a:t>
            </a:r>
          </a:p>
          <a:p>
            <a:endParaRPr lang="en-US" sz="1600" dirty="0">
              <a:solidFill>
                <a:srgbClr val="00B050"/>
              </a:solidFill>
            </a:endParaRPr>
          </a:p>
          <a:p>
            <a:endParaRPr lang="en-US" sz="1600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Photo Gallery</a:t>
            </a:r>
          </a:p>
          <a:p>
            <a:r>
              <a:rPr lang="en-US" dirty="0">
                <a:solidFill>
                  <a:srgbClr val="00B0F0"/>
                </a:solidFill>
              </a:rPr>
              <a:t>Video Documentary</a:t>
            </a:r>
          </a:p>
          <a:p>
            <a:r>
              <a:rPr lang="en-US" dirty="0">
                <a:solidFill>
                  <a:srgbClr val="00B0F0"/>
                </a:solidFill>
              </a:rPr>
              <a:t>Our Awards</a:t>
            </a:r>
          </a:p>
          <a:p>
            <a:endParaRPr lang="en-US" dirty="0">
              <a:hlinkClick r:id="rId2"/>
            </a:endParaRPr>
          </a:p>
          <a:p>
            <a:endParaRPr lang="en-US" dirty="0"/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97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138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VERC Website Structure</vt:lpstr>
      <vt:lpstr>Executive Overview</vt:lpstr>
      <vt:lpstr>Home Page Strategy</vt:lpstr>
      <vt:lpstr>About Us</vt:lpstr>
      <vt:lpstr>Programs Portfolio</vt:lpstr>
      <vt:lpstr>Microfinance Services</vt:lpstr>
      <vt:lpstr>Impact &amp; Results</vt:lpstr>
      <vt:lpstr>Transparency &amp; Reporting</vt:lpstr>
      <vt:lpstr>Partnership Strategy</vt:lpstr>
      <vt:lpstr>Governance</vt:lpstr>
      <vt:lpstr>Contact &amp; Engagement</vt:lpstr>
      <vt:lpstr>Conclusion</vt:lpstr>
      <vt:lpstr>Circular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VERC Website Structure</dc:title>
  <dc:subject/>
  <dc:creator>rezwan.shakil</dc:creator>
  <cp:keywords/>
  <dc:description>generated using python-pptx</dc:description>
  <cp:lastModifiedBy>Verc Microfinance Section</cp:lastModifiedBy>
  <cp:revision>5</cp:revision>
  <dcterms:created xsi:type="dcterms:W3CDTF">2013-01-27T09:14:16Z</dcterms:created>
  <dcterms:modified xsi:type="dcterms:W3CDTF">2026-04-22T17:05:24Z</dcterms:modified>
  <cp:category/>
</cp:coreProperties>
</file>